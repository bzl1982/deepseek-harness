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3716000" cy="8572500"/>
  <p:notesSz cx="13716000" cy="8572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152400"/>
            <a:ext cx="78609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多 AI 协作台</a:t>
            </a:r>
          </a:p>
        </p:txBody>
      </p:sp>
      <p:sp>
        <p:nvSpPr>
          <p:cNvPr id="5" name="Ellipse"/>
          <p:cNvSpPr/>
          <p:nvPr/>
        </p:nvSpPr>
        <p:spPr>
          <a:xfrm>
            <a:off x="12849225" y="209550"/>
            <a:ext cx="76200" cy="76200"/>
          </a:xfrm>
          <a:prstGeom prst="ellipse">
            <a:avLst/>
          </a:prstGeom>
          <a:solidFill>
            <a:srgbClr val="5BC8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001625" y="209550"/>
            <a:ext cx="3714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0B998"/>
                </a:solidFill>
                <a:latin typeface="Inter"/>
                <a:ea typeface="Inter"/>
                <a:cs typeface="Inter"/>
              </a:rPr>
              <a:t>进行中</a:t>
            </a:r>
          </a:p>
        </p:txBody>
      </p:sp>
      <p:sp>
        <p:nvSpPr>
          <p:cNvPr id="7" name="Rectangle"/>
          <p:cNvSpPr/>
          <p:nvPr/>
        </p:nvSpPr>
        <p:spPr>
          <a:xfrm>
            <a:off x="228600" y="800100"/>
            <a:ext cx="83820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533400" y="1104900"/>
            <a:ext cx="8382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项目进度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152400"/>
            <a:ext cx="78609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多 AI 协作台</a:t>
            </a:r>
          </a:p>
        </p:txBody>
      </p:sp>
      <p:sp>
        <p:nvSpPr>
          <p:cNvPr id="5" name="Ellipse"/>
          <p:cNvSpPr/>
          <p:nvPr/>
        </p:nvSpPr>
        <p:spPr>
          <a:xfrm>
            <a:off x="12849225" y="209550"/>
            <a:ext cx="76200" cy="76200"/>
          </a:xfrm>
          <a:prstGeom prst="ellipse">
            <a:avLst/>
          </a:prstGeom>
          <a:solidFill>
            <a:srgbClr val="5BC8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001625" y="209550"/>
            <a:ext cx="3714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2C7A7C"/>
                </a:solidFill>
                <a:latin typeface="Inter"/>
                <a:ea typeface="Inter"/>
                <a:cs typeface="Inter"/>
              </a:rPr>
              <a:t>进行中</a:t>
            </a:r>
          </a:p>
        </p:txBody>
      </p:sp>
      <p:sp>
        <p:nvSpPr>
          <p:cNvPr id="7" name="Rectangle"/>
          <p:cNvSpPr/>
          <p:nvPr/>
        </p:nvSpPr>
        <p:spPr>
          <a:xfrm>
            <a:off x="4763" y="4763"/>
            <a:ext cx="13706475" cy="561975"/>
          </a:xfrm>
          <a:prstGeom prst="rect">
            <a:avLst/>
          </a:prstGeom>
          <a:noFill/>
          <a:ln w="9525">
            <a:solidFill>
              <a:srgbClr val="E0E0E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28600" y="800100"/>
            <a:ext cx="83820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533400" y="1104900"/>
            <a:ext cx="12573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项目进度总览</a:t>
            </a:r>
          </a:p>
        </p:txBody>
      </p:sp>
      <p:sp>
        <p:nvSpPr>
          <p:cNvPr id="10" name="Ellipse"/>
          <p:cNvSpPr/>
          <p:nvPr/>
        </p:nvSpPr>
        <p:spPr>
          <a:xfrm>
            <a:off x="533400" y="1362075"/>
            <a:ext cx="1905000" cy="190500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590550" y="1419225"/>
            <a:ext cx="1790700" cy="1790700"/>
          </a:xfrm>
          <a:prstGeom prst="ellipse">
            <a:avLst/>
          </a:prstGeom>
          <a:noFill/>
          <a:ln w="114300">
            <a:solidFill>
              <a:srgbClr val="E0E0E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3390897" y="1362062"/>
            <a:ext cx="952516" cy="1905026"/>
          </a:xfrm>
          <a:custGeom>
            <a:avLst/>
            <a:gdLst/>
            <a:ahLst/>
            <a:cxnLst/>
            <a:rect l="0" t="0" r="r" b="b"/>
            <a:pathLst>
              <a:path w="952516" h="1905026">
                <a:moveTo>
                  <a:pt x="0" y="114313"/>
                </a:moveTo>
                <a:lnTo>
                  <a:pt x="0" y="13"/>
                </a:lnTo>
                <a:cubicBezTo>
                  <a:pt x="125087" y="0"/>
                  <a:pt x="248942" y="24662"/>
                  <a:pt x="364507" y="72517"/>
                </a:cubicBezTo>
                <a:cubicBezTo>
                  <a:pt x="480078" y="120374"/>
                  <a:pt x="585066" y="190555"/>
                  <a:pt x="673521" y="278993"/>
                </a:cubicBezTo>
                <a:cubicBezTo>
                  <a:pt x="761980" y="367434"/>
                  <a:pt x="832119" y="472450"/>
                  <a:pt x="879998" y="588006"/>
                </a:cubicBezTo>
                <a:cubicBezTo>
                  <a:pt x="927879" y="703567"/>
                  <a:pt x="952491" y="827430"/>
                  <a:pt x="952503" y="952513"/>
                </a:cubicBezTo>
                <a:cubicBezTo>
                  <a:pt x="952516" y="1077693"/>
                  <a:pt x="927854" y="1201454"/>
                  <a:pt x="879998" y="1317020"/>
                </a:cubicBezTo>
                <a:cubicBezTo>
                  <a:pt x="832120" y="1432575"/>
                  <a:pt x="761980" y="1537593"/>
                  <a:pt x="673521" y="1626033"/>
                </a:cubicBezTo>
                <a:cubicBezTo>
                  <a:pt x="585066" y="1714471"/>
                  <a:pt x="480077" y="1784652"/>
                  <a:pt x="364507" y="1832509"/>
                </a:cubicBezTo>
                <a:cubicBezTo>
                  <a:pt x="248941" y="1880364"/>
                  <a:pt x="125087" y="1905026"/>
                  <a:pt x="0" y="1905013"/>
                </a:cubicBezTo>
                <a:lnTo>
                  <a:pt x="0" y="1790713"/>
                </a:lnTo>
                <a:cubicBezTo>
                  <a:pt x="110077" y="1790724"/>
                  <a:pt x="219069" y="1769022"/>
                  <a:pt x="320767" y="1726910"/>
                </a:cubicBezTo>
                <a:cubicBezTo>
                  <a:pt x="422468" y="1684796"/>
                  <a:pt x="514858" y="1623036"/>
                  <a:pt x="592699" y="1545211"/>
                </a:cubicBezTo>
                <a:cubicBezTo>
                  <a:pt x="670543" y="1467383"/>
                  <a:pt x="732266" y="1374968"/>
                  <a:pt x="774399" y="1273279"/>
                </a:cubicBezTo>
                <a:cubicBezTo>
                  <a:pt x="816512" y="1171581"/>
                  <a:pt x="838214" y="1062671"/>
                  <a:pt x="838203" y="952513"/>
                </a:cubicBezTo>
                <a:cubicBezTo>
                  <a:pt x="838192" y="842440"/>
                  <a:pt x="816534" y="733440"/>
                  <a:pt x="774399" y="631747"/>
                </a:cubicBezTo>
                <a:cubicBezTo>
                  <a:pt x="732266" y="530057"/>
                  <a:pt x="670543" y="437643"/>
                  <a:pt x="592699" y="359815"/>
                </a:cubicBezTo>
                <a:cubicBezTo>
                  <a:pt x="514858" y="281990"/>
                  <a:pt x="422469" y="220230"/>
                  <a:pt x="320767" y="178116"/>
                </a:cubicBezTo>
                <a:cubicBezTo>
                  <a:pt x="219069" y="136004"/>
                  <a:pt x="110077" y="114302"/>
                  <a:pt x="0" y="114313"/>
                </a:cubicBez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3390897" y="1362062"/>
            <a:ext cx="952516" cy="1905026"/>
          </a:xfrm>
          <a:custGeom>
            <a:avLst/>
            <a:gdLst/>
            <a:ahLst/>
            <a:cxnLst/>
            <a:rect l="0" t="0" r="r" b="b"/>
            <a:pathLst>
              <a:path w="952516" h="1905026">
                <a:moveTo>
                  <a:pt x="0" y="114313"/>
                </a:moveTo>
                <a:lnTo>
                  <a:pt x="0" y="13"/>
                </a:lnTo>
                <a:cubicBezTo>
                  <a:pt x="125087" y="0"/>
                  <a:pt x="248942" y="24662"/>
                  <a:pt x="364507" y="72517"/>
                </a:cubicBezTo>
                <a:cubicBezTo>
                  <a:pt x="480078" y="120374"/>
                  <a:pt x="585066" y="190555"/>
                  <a:pt x="673521" y="278993"/>
                </a:cubicBezTo>
                <a:cubicBezTo>
                  <a:pt x="761980" y="367434"/>
                  <a:pt x="832119" y="472450"/>
                  <a:pt x="879998" y="588006"/>
                </a:cubicBezTo>
                <a:cubicBezTo>
                  <a:pt x="927879" y="703567"/>
                  <a:pt x="952491" y="827430"/>
                  <a:pt x="952503" y="952513"/>
                </a:cubicBezTo>
                <a:cubicBezTo>
                  <a:pt x="952516" y="1077693"/>
                  <a:pt x="927854" y="1201454"/>
                  <a:pt x="879998" y="1317020"/>
                </a:cubicBezTo>
                <a:cubicBezTo>
                  <a:pt x="832120" y="1432575"/>
                  <a:pt x="761980" y="1537593"/>
                  <a:pt x="673521" y="1626033"/>
                </a:cubicBezTo>
                <a:cubicBezTo>
                  <a:pt x="585066" y="1714471"/>
                  <a:pt x="480077" y="1784652"/>
                  <a:pt x="364507" y="1832509"/>
                </a:cubicBezTo>
                <a:cubicBezTo>
                  <a:pt x="248941" y="1880364"/>
                  <a:pt x="125087" y="1905026"/>
                  <a:pt x="0" y="1905013"/>
                </a:cubicBezTo>
                <a:lnTo>
                  <a:pt x="0" y="1790713"/>
                </a:lnTo>
                <a:cubicBezTo>
                  <a:pt x="110077" y="1790724"/>
                  <a:pt x="219069" y="1769022"/>
                  <a:pt x="320767" y="1726910"/>
                </a:cubicBezTo>
                <a:cubicBezTo>
                  <a:pt x="422468" y="1684796"/>
                  <a:pt x="514858" y="1623036"/>
                  <a:pt x="592699" y="1545211"/>
                </a:cubicBezTo>
                <a:cubicBezTo>
                  <a:pt x="670543" y="1467383"/>
                  <a:pt x="732266" y="1374968"/>
                  <a:pt x="774399" y="1273279"/>
                </a:cubicBezTo>
                <a:cubicBezTo>
                  <a:pt x="816512" y="1171581"/>
                  <a:pt x="838214" y="1062671"/>
                  <a:pt x="838203" y="952513"/>
                </a:cubicBezTo>
                <a:cubicBezTo>
                  <a:pt x="838192" y="842440"/>
                  <a:pt x="816534" y="733440"/>
                  <a:pt x="774399" y="631747"/>
                </a:cubicBezTo>
                <a:cubicBezTo>
                  <a:pt x="732266" y="530057"/>
                  <a:pt x="670543" y="437643"/>
                  <a:pt x="592699" y="359815"/>
                </a:cubicBezTo>
                <a:cubicBezTo>
                  <a:pt x="514858" y="281990"/>
                  <a:pt x="422469" y="220230"/>
                  <a:pt x="320767" y="178116"/>
                </a:cubicBezTo>
                <a:cubicBezTo>
                  <a:pt x="219069" y="136004"/>
                  <a:pt x="110077" y="114302"/>
                  <a:pt x="0" y="114313"/>
                </a:cubicBezTo>
                <a:close/>
              </a:path>
            </a:pathLst>
          </a:custGeom>
          <a:noFill/>
          <a:ln w="114300">
            <a:solidFill>
              <a:srgbClr val="5BC8C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4343400" y="1362075"/>
            <a:ext cx="995214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600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33%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4343400" y="1914525"/>
            <a:ext cx="5923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5C5C5C"/>
                </a:solidFill>
                <a:latin typeface="Inter"/>
                <a:ea typeface="Inter"/>
                <a:cs typeface="Inter"/>
              </a:rPr>
              <a:t>3 / 9 节点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137160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228600" y="152400"/>
            <a:ext cx="78609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多 AI 协作台</a:t>
            </a:r>
          </a:p>
        </p:txBody>
      </p:sp>
      <p:sp>
        <p:nvSpPr>
          <p:cNvPr id="5" name="Ellipse"/>
          <p:cNvSpPr/>
          <p:nvPr/>
        </p:nvSpPr>
        <p:spPr>
          <a:xfrm>
            <a:off x="12849225" y="209550"/>
            <a:ext cx="76200" cy="76200"/>
          </a:xfrm>
          <a:prstGeom prst="ellipse">
            <a:avLst/>
          </a:prstGeom>
          <a:solidFill>
            <a:srgbClr val="5BC8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001625" y="209550"/>
            <a:ext cx="3714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2C7A7C"/>
                </a:solidFill>
                <a:latin typeface="Inter"/>
                <a:ea typeface="Inter"/>
                <a:cs typeface="Inter"/>
              </a:rPr>
              <a:t>进行中</a:t>
            </a:r>
          </a:p>
        </p:txBody>
      </p:sp>
      <p:sp>
        <p:nvSpPr>
          <p:cNvPr id="7" name="Rectangle"/>
          <p:cNvSpPr/>
          <p:nvPr/>
        </p:nvSpPr>
        <p:spPr>
          <a:xfrm>
            <a:off x="4763" y="4763"/>
            <a:ext cx="13706475" cy="561975"/>
          </a:xfrm>
          <a:prstGeom prst="rect">
            <a:avLst/>
          </a:prstGeom>
          <a:noFill/>
          <a:ln w="9525">
            <a:solidFill>
              <a:srgbClr val="E0E0E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28600" y="800100"/>
            <a:ext cx="8382000" cy="361950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533400" y="1104900"/>
            <a:ext cx="12573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项目进度总览</a:t>
            </a:r>
          </a:p>
        </p:txBody>
      </p:sp>
      <p:sp>
        <p:nvSpPr>
          <p:cNvPr id="10" name="Ellipse"/>
          <p:cNvSpPr/>
          <p:nvPr/>
        </p:nvSpPr>
        <p:spPr>
          <a:xfrm>
            <a:off x="533400" y="1362075"/>
            <a:ext cx="1905000" cy="190500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590550" y="1419225"/>
            <a:ext cx="1790700" cy="1790700"/>
          </a:xfrm>
          <a:prstGeom prst="ellipse">
            <a:avLst/>
          </a:prstGeom>
          <a:noFill/>
          <a:ln w="114300">
            <a:solidFill>
              <a:srgbClr val="E0E0E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3390897" y="1362062"/>
            <a:ext cx="952516" cy="1905026"/>
          </a:xfrm>
          <a:custGeom>
            <a:avLst/>
            <a:gdLst/>
            <a:ahLst/>
            <a:cxnLst/>
            <a:rect l="0" t="0" r="r" b="b"/>
            <a:pathLst>
              <a:path w="952516" h="1905026">
                <a:moveTo>
                  <a:pt x="0" y="114313"/>
                </a:moveTo>
                <a:lnTo>
                  <a:pt x="0" y="13"/>
                </a:lnTo>
                <a:cubicBezTo>
                  <a:pt x="125087" y="0"/>
                  <a:pt x="248942" y="24662"/>
                  <a:pt x="364507" y="72517"/>
                </a:cubicBezTo>
                <a:cubicBezTo>
                  <a:pt x="480078" y="120374"/>
                  <a:pt x="585066" y="190555"/>
                  <a:pt x="673521" y="278993"/>
                </a:cubicBezTo>
                <a:cubicBezTo>
                  <a:pt x="761980" y="367434"/>
                  <a:pt x="832119" y="472450"/>
                  <a:pt x="879998" y="588006"/>
                </a:cubicBezTo>
                <a:cubicBezTo>
                  <a:pt x="927879" y="703567"/>
                  <a:pt x="952491" y="827430"/>
                  <a:pt x="952503" y="952513"/>
                </a:cubicBezTo>
                <a:cubicBezTo>
                  <a:pt x="952516" y="1077693"/>
                  <a:pt x="927854" y="1201454"/>
                  <a:pt x="879998" y="1317020"/>
                </a:cubicBezTo>
                <a:cubicBezTo>
                  <a:pt x="832120" y="1432575"/>
                  <a:pt x="761980" y="1537593"/>
                  <a:pt x="673521" y="1626033"/>
                </a:cubicBezTo>
                <a:cubicBezTo>
                  <a:pt x="585066" y="1714471"/>
                  <a:pt x="480077" y="1784652"/>
                  <a:pt x="364507" y="1832509"/>
                </a:cubicBezTo>
                <a:cubicBezTo>
                  <a:pt x="248941" y="1880364"/>
                  <a:pt x="125087" y="1905026"/>
                  <a:pt x="0" y="1905013"/>
                </a:cubicBezTo>
                <a:lnTo>
                  <a:pt x="0" y="1790713"/>
                </a:lnTo>
                <a:cubicBezTo>
                  <a:pt x="110077" y="1790724"/>
                  <a:pt x="219069" y="1769022"/>
                  <a:pt x="320767" y="1726910"/>
                </a:cubicBezTo>
                <a:cubicBezTo>
                  <a:pt x="422468" y="1684796"/>
                  <a:pt x="514858" y="1623036"/>
                  <a:pt x="592699" y="1545211"/>
                </a:cubicBezTo>
                <a:cubicBezTo>
                  <a:pt x="670543" y="1467383"/>
                  <a:pt x="732266" y="1374968"/>
                  <a:pt x="774399" y="1273279"/>
                </a:cubicBezTo>
                <a:cubicBezTo>
                  <a:pt x="816512" y="1171581"/>
                  <a:pt x="838214" y="1062671"/>
                  <a:pt x="838203" y="952513"/>
                </a:cubicBezTo>
                <a:cubicBezTo>
                  <a:pt x="838192" y="842440"/>
                  <a:pt x="816534" y="733440"/>
                  <a:pt x="774399" y="631747"/>
                </a:cubicBezTo>
                <a:cubicBezTo>
                  <a:pt x="732266" y="530057"/>
                  <a:pt x="670543" y="437643"/>
                  <a:pt x="592699" y="359815"/>
                </a:cubicBezTo>
                <a:cubicBezTo>
                  <a:pt x="514858" y="281990"/>
                  <a:pt x="422469" y="220230"/>
                  <a:pt x="320767" y="178116"/>
                </a:cubicBezTo>
                <a:cubicBezTo>
                  <a:pt x="219069" y="136004"/>
                  <a:pt x="110077" y="114302"/>
                  <a:pt x="0" y="114313"/>
                </a:cubicBez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3390897" y="1362062"/>
            <a:ext cx="952516" cy="1905026"/>
          </a:xfrm>
          <a:custGeom>
            <a:avLst/>
            <a:gdLst/>
            <a:ahLst/>
            <a:cxnLst/>
            <a:rect l="0" t="0" r="r" b="b"/>
            <a:pathLst>
              <a:path w="952516" h="1905026">
                <a:moveTo>
                  <a:pt x="0" y="114313"/>
                </a:moveTo>
                <a:lnTo>
                  <a:pt x="0" y="13"/>
                </a:lnTo>
                <a:cubicBezTo>
                  <a:pt x="125087" y="0"/>
                  <a:pt x="248942" y="24662"/>
                  <a:pt x="364507" y="72517"/>
                </a:cubicBezTo>
                <a:cubicBezTo>
                  <a:pt x="480078" y="120374"/>
                  <a:pt x="585066" y="190555"/>
                  <a:pt x="673521" y="278993"/>
                </a:cubicBezTo>
                <a:cubicBezTo>
                  <a:pt x="761980" y="367434"/>
                  <a:pt x="832119" y="472450"/>
                  <a:pt x="879998" y="588006"/>
                </a:cubicBezTo>
                <a:cubicBezTo>
                  <a:pt x="927879" y="703567"/>
                  <a:pt x="952491" y="827430"/>
                  <a:pt x="952503" y="952513"/>
                </a:cubicBezTo>
                <a:cubicBezTo>
                  <a:pt x="952516" y="1077693"/>
                  <a:pt x="927854" y="1201454"/>
                  <a:pt x="879998" y="1317020"/>
                </a:cubicBezTo>
                <a:cubicBezTo>
                  <a:pt x="832120" y="1432575"/>
                  <a:pt x="761980" y="1537593"/>
                  <a:pt x="673521" y="1626033"/>
                </a:cubicBezTo>
                <a:cubicBezTo>
                  <a:pt x="585066" y="1714471"/>
                  <a:pt x="480077" y="1784652"/>
                  <a:pt x="364507" y="1832509"/>
                </a:cubicBezTo>
                <a:cubicBezTo>
                  <a:pt x="248941" y="1880364"/>
                  <a:pt x="125087" y="1905026"/>
                  <a:pt x="0" y="1905013"/>
                </a:cubicBezTo>
                <a:lnTo>
                  <a:pt x="0" y="1790713"/>
                </a:lnTo>
                <a:cubicBezTo>
                  <a:pt x="110077" y="1790724"/>
                  <a:pt x="219069" y="1769022"/>
                  <a:pt x="320767" y="1726910"/>
                </a:cubicBezTo>
                <a:cubicBezTo>
                  <a:pt x="422468" y="1684796"/>
                  <a:pt x="514858" y="1623036"/>
                  <a:pt x="592699" y="1545211"/>
                </a:cubicBezTo>
                <a:cubicBezTo>
                  <a:pt x="670543" y="1467383"/>
                  <a:pt x="732266" y="1374968"/>
                  <a:pt x="774399" y="1273279"/>
                </a:cubicBezTo>
                <a:cubicBezTo>
                  <a:pt x="816512" y="1171581"/>
                  <a:pt x="838214" y="1062671"/>
                  <a:pt x="838203" y="952513"/>
                </a:cubicBezTo>
                <a:cubicBezTo>
                  <a:pt x="838192" y="842440"/>
                  <a:pt x="816534" y="733440"/>
                  <a:pt x="774399" y="631747"/>
                </a:cubicBezTo>
                <a:cubicBezTo>
                  <a:pt x="732266" y="530057"/>
                  <a:pt x="670543" y="437643"/>
                  <a:pt x="592699" y="359815"/>
                </a:cubicBezTo>
                <a:cubicBezTo>
                  <a:pt x="514858" y="281990"/>
                  <a:pt x="422469" y="220230"/>
                  <a:pt x="320767" y="178116"/>
                </a:cubicBezTo>
                <a:cubicBezTo>
                  <a:pt x="219069" y="136004"/>
                  <a:pt x="110077" y="114302"/>
                  <a:pt x="0" y="114313"/>
                </a:cubicBezTo>
                <a:close/>
              </a:path>
            </a:pathLst>
          </a:custGeom>
          <a:noFill/>
          <a:ln w="114300">
            <a:solidFill>
              <a:srgbClr val="FFC83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4343400" y="1362075"/>
            <a:ext cx="995214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600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33%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4343400" y="1952625"/>
            <a:ext cx="5923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5C5C5C"/>
                </a:solidFill>
                <a:latin typeface="Inter"/>
                <a:ea typeface="Inter"/>
                <a:cs typeface="Inter"/>
              </a:rPr>
              <a:t>3 / 9 节点</a:t>
            </a:r>
          </a:p>
        </p:txBody>
      </p:sp>
      <p:sp>
        <p:nvSpPr>
          <p:cNvPr id="16" name="Rectangle"/>
          <p:cNvSpPr/>
          <p:nvPr/>
        </p:nvSpPr>
        <p:spPr>
          <a:xfrm>
            <a:off x="233363" y="804863"/>
            <a:ext cx="8372475" cy="3609975"/>
          </a:xfrm>
          <a:prstGeom prst="roundRect">
            <a:avLst>
              <a:gd name="adj" fmla="val 4089"/>
            </a:avLst>
          </a:prstGeom>
          <a:noFill/>
          <a:ln w="9525">
            <a:solidFill>
              <a:srgbClr val="E0E0E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228600" y="4572000"/>
            <a:ext cx="8382000" cy="37719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457200" y="4800600"/>
            <a:ext cx="6858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350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流程节点</a:t>
            </a:r>
          </a:p>
        </p:txBody>
      </p:sp>
      <p:sp>
        <p:nvSpPr>
          <p:cNvPr id="19" name="Ellipse"/>
          <p:cNvSpPr/>
          <p:nvPr/>
        </p:nvSpPr>
        <p:spPr>
          <a:xfrm>
            <a:off x="609600" y="5238750"/>
            <a:ext cx="114300" cy="114300"/>
          </a:xfrm>
          <a:prstGeom prst="ellipse">
            <a:avLst/>
          </a:prstGeom>
          <a:solidFill>
            <a:srgbClr val="10B99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838200" y="5238750"/>
            <a:ext cx="1524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200">
                <a:solidFill>
                  <a:srgbClr val="000000"/>
                </a:solidFill>
                <a:latin typeface="Sarasa Gothic SC"/>
                <a:ea typeface="Sarasa Gothic SC"/>
                <a:cs typeface="Sarasa Gothic SC"/>
              </a:rPr>
              <a:t>📋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104900" y="5238750"/>
            <a:ext cx="6633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0A0A0A"/>
                </a:solidFill>
                <a:latin typeface="Inter"/>
                <a:ea typeface="Inter"/>
                <a:cs typeface="Inter"/>
              </a:rPr>
              <a:t>1. 建立项目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885950" y="5238750"/>
            <a:ext cx="3714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0B998"/>
                </a:solidFill>
                <a:latin typeface="Inter"/>
                <a:ea typeface="Inter"/>
                <a:cs typeface="Inter"/>
              </a:rPr>
              <a:t>已完成</a:t>
            </a:r>
          </a:p>
        </p:txBody>
      </p:sp>
      <p:sp>
        <p:nvSpPr>
          <p:cNvPr id="23" name="Ellipse"/>
          <p:cNvSpPr/>
          <p:nvPr/>
        </p:nvSpPr>
        <p:spPr>
          <a:xfrm>
            <a:off x="609600" y="5762625"/>
            <a:ext cx="114300" cy="114300"/>
          </a:xfrm>
          <a:prstGeom prst="ellipse">
            <a:avLst/>
          </a:prstGeom>
          <a:solidFill>
            <a:srgbClr val="10B99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838200" y="5762625"/>
            <a:ext cx="134722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200">
                <a:solidFill>
                  <a:srgbClr val="10B998"/>
                </a:solidFill>
                <a:latin typeface="Sarasa Gothic SC"/>
                <a:ea typeface="Sarasa Gothic SC"/>
                <a:cs typeface="Sarasa Gothic SC"/>
              </a:rPr>
              <a:t>✓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095375" y="5762625"/>
            <a:ext cx="6901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0A0A0A"/>
                </a:solidFill>
                <a:latin typeface="Inter"/>
                <a:ea typeface="Inter"/>
                <a:cs typeface="Inter"/>
              </a:rPr>
              <a:t>2. 整理需求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905000" y="5762625"/>
            <a:ext cx="3714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0B998"/>
                </a:solidFill>
                <a:latin typeface="Inter"/>
                <a:ea typeface="Inter"/>
                <a:cs typeface="Inter"/>
              </a:rPr>
              <a:t>已完成</a:t>
            </a:r>
          </a:p>
        </p:txBody>
      </p:sp>
      <p:sp>
        <p:nvSpPr>
          <p:cNvPr id="27" name="Ellipse"/>
          <p:cNvSpPr/>
          <p:nvPr/>
        </p:nvSpPr>
        <p:spPr>
          <a:xfrm>
            <a:off x="609600" y="6286500"/>
            <a:ext cx="114300" cy="114300"/>
          </a:xfrm>
          <a:prstGeom prst="ellipse">
            <a:avLst/>
          </a:prstGeom>
          <a:solidFill>
            <a:srgbClr val="FFC8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838200" y="6286500"/>
            <a:ext cx="1222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050">
                <a:solidFill>
                  <a:srgbClr val="FFC832"/>
                </a:solidFill>
                <a:latin typeface="Sarasa Gothic SC"/>
                <a:ea typeface="Sarasa Gothic SC"/>
                <a:cs typeface="Sarasa Gothic SC"/>
              </a:rPr>
              <a:t>►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076325" y="6286500"/>
            <a:ext cx="9553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0A0A0A"/>
                </a:solidFill>
                <a:latin typeface="Inter"/>
                <a:ea typeface="Inter"/>
                <a:cs typeface="Inter"/>
              </a:rPr>
              <a:t>3. 推导体验方案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2152650" y="6286500"/>
            <a:ext cx="3714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A58C23"/>
                </a:solidFill>
                <a:latin typeface="Inter"/>
                <a:ea typeface="Inter"/>
                <a:cs typeface="Inter"/>
              </a:rPr>
              <a:t>进行中</a:t>
            </a:r>
          </a:p>
        </p:txBody>
      </p:sp>
      <p:sp>
        <p:nvSpPr>
          <p:cNvPr id="31" name="Rectangle"/>
          <p:cNvSpPr/>
          <p:nvPr/>
        </p:nvSpPr>
        <p:spPr>
          <a:xfrm>
            <a:off x="457200" y="6677025"/>
            <a:ext cx="7924800" cy="390525"/>
          </a:xfrm>
          <a:prstGeom prst="roundRect">
            <a:avLst>
              <a:gd name="adj" fmla="val 29268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Ellipse"/>
          <p:cNvSpPr/>
          <p:nvPr/>
        </p:nvSpPr>
        <p:spPr>
          <a:xfrm>
            <a:off x="609600" y="6791325"/>
            <a:ext cx="114300" cy="11430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Ellipse"/>
          <p:cNvSpPr/>
          <p:nvPr/>
        </p:nvSpPr>
        <p:spPr>
          <a:xfrm>
            <a:off x="619125" y="6800850"/>
            <a:ext cx="95250" cy="95250"/>
          </a:xfrm>
          <a:prstGeom prst="ellipse">
            <a:avLst/>
          </a:prstGeom>
          <a:noFill/>
          <a:ln w="19050">
            <a:solidFill>
              <a:srgbClr val="B2B2B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838200" y="6791325"/>
            <a:ext cx="1218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050">
                <a:solidFill>
                  <a:srgbClr val="B2B2B2"/>
                </a:solidFill>
                <a:latin typeface="Sarasa Gothic SC"/>
                <a:ea typeface="Sarasa Gothic SC"/>
                <a:cs typeface="Sarasa Gothic SC"/>
              </a:rPr>
              <a:t>○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076325" y="6791325"/>
            <a:ext cx="6909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5C5C5C"/>
                </a:solidFill>
                <a:latin typeface="Inter"/>
                <a:ea typeface="Inter"/>
                <a:cs typeface="Inter"/>
              </a:rPr>
              <a:t>4. 技术定案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885950" y="6791325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878787"/>
                </a:solidFill>
                <a:latin typeface="Inter"/>
                <a:ea typeface="Inter"/>
                <a:cs typeface="Inter"/>
              </a:rPr>
              <a:t>等待前置</a:t>
            </a:r>
          </a:p>
        </p:txBody>
      </p:sp>
      <p:sp>
        <p:nvSpPr>
          <p:cNvPr id="37" name="Rectangle"/>
          <p:cNvSpPr/>
          <p:nvPr/>
        </p:nvSpPr>
        <p:spPr>
          <a:xfrm>
            <a:off x="233363" y="4576763"/>
            <a:ext cx="8372475" cy="3762375"/>
          </a:xfrm>
          <a:prstGeom prst="roundRect">
            <a:avLst>
              <a:gd name="adj" fmla="val 3924"/>
            </a:avLst>
          </a:prstGeom>
          <a:noFill/>
          <a:ln w="9525">
            <a:solidFill>
              <a:srgbClr val="E0E0E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8839200" y="8001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9067800" y="1028700"/>
            <a:ext cx="89785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350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AI 协作状态</a:t>
            </a:r>
          </a:p>
        </p:txBody>
      </p:sp>
      <p:sp>
        <p:nvSpPr>
          <p:cNvPr id="40" name="Rectangle"/>
          <p:cNvSpPr/>
          <p:nvPr/>
        </p:nvSpPr>
        <p:spPr>
          <a:xfrm>
            <a:off x="9067800" y="1390650"/>
            <a:ext cx="4419600" cy="342900"/>
          </a:xfrm>
          <a:prstGeom prst="roundRect">
            <a:avLst>
              <a:gd name="adj" fmla="val 27777"/>
            </a:avLst>
          </a:prstGeom>
          <a:solidFill>
            <a:srgbClr val="F9F9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Ellipse"/>
          <p:cNvSpPr/>
          <p:nvPr/>
        </p:nvSpPr>
        <p:spPr>
          <a:xfrm>
            <a:off x="9182100" y="1485900"/>
            <a:ext cx="76200" cy="76200"/>
          </a:xfrm>
          <a:prstGeom prst="ellipse">
            <a:avLst/>
          </a:prstGeom>
          <a:solidFill>
            <a:srgbClr val="10B99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9353550" y="1485900"/>
            <a:ext cx="6060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0A0A0A"/>
                </a:solidFill>
                <a:latin typeface="Inter"/>
                <a:ea typeface="Inter"/>
                <a:cs typeface="Inter"/>
              </a:rPr>
              <a:t>DeepSeek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3030200" y="1485900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C5C5C"/>
                </a:solidFill>
                <a:latin typeface="Inter"/>
                <a:ea typeface="Inter"/>
                <a:cs typeface="Inter"/>
              </a:rPr>
              <a:t>编码中</a:t>
            </a:r>
          </a:p>
        </p:txBody>
      </p:sp>
      <p:sp>
        <p:nvSpPr>
          <p:cNvPr id="44" name="Rectangle"/>
          <p:cNvSpPr/>
          <p:nvPr/>
        </p:nvSpPr>
        <p:spPr>
          <a:xfrm>
            <a:off x="9067800" y="1895475"/>
            <a:ext cx="4419600" cy="342900"/>
          </a:xfrm>
          <a:prstGeom prst="roundRect">
            <a:avLst>
              <a:gd name="adj" fmla="val 27777"/>
            </a:avLst>
          </a:prstGeom>
          <a:solidFill>
            <a:srgbClr val="F9F9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Ellipse"/>
          <p:cNvSpPr/>
          <p:nvPr/>
        </p:nvSpPr>
        <p:spPr>
          <a:xfrm>
            <a:off x="9182100" y="1990725"/>
            <a:ext cx="76200" cy="76200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9353550" y="1990725"/>
            <a:ext cx="4121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0A0A0A"/>
                </a:solidFill>
                <a:latin typeface="Inter"/>
                <a:ea typeface="Inter"/>
                <a:cs typeface="Inter"/>
              </a:rPr>
              <a:t>Gemini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13144500" y="199072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878787"/>
                </a:solidFill>
                <a:latin typeface="Inter"/>
                <a:ea typeface="Inter"/>
                <a:cs typeface="Inter"/>
              </a:rPr>
              <a:t>空闲</a:t>
            </a:r>
          </a:p>
        </p:txBody>
      </p:sp>
      <p:sp>
        <p:nvSpPr>
          <p:cNvPr id="48" name="Rectangle"/>
          <p:cNvSpPr/>
          <p:nvPr/>
        </p:nvSpPr>
        <p:spPr>
          <a:xfrm>
            <a:off x="8843963" y="804863"/>
            <a:ext cx="4867275" cy="3038475"/>
          </a:xfrm>
          <a:prstGeom prst="roundRect">
            <a:avLst>
              <a:gd name="adj" fmla="val 4858"/>
            </a:avLst>
          </a:prstGeom>
          <a:noFill/>
          <a:ln w="9525">
            <a:solidFill>
              <a:srgbClr val="E0E0E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"/>
          <p:cNvSpPr/>
          <p:nvPr/>
        </p:nvSpPr>
        <p:spPr>
          <a:xfrm>
            <a:off x="8839200" y="4000500"/>
            <a:ext cx="4876800" cy="4343400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9067800" y="4229100"/>
            <a:ext cx="6858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350">
                <a:solidFill>
                  <a:srgbClr val="0A0A0A"/>
                </a:solidFill>
                <a:latin typeface="Inter Bold"/>
                <a:ea typeface="Inter Bold"/>
                <a:cs typeface="Inter Bold"/>
              </a:rPr>
              <a:t>当前任务</a:t>
            </a:r>
          </a:p>
        </p:txBody>
      </p:sp>
      <p:sp>
        <p:nvSpPr>
          <p:cNvPr id="51" name="Rectangle"/>
          <p:cNvSpPr/>
          <p:nvPr/>
        </p:nvSpPr>
        <p:spPr>
          <a:xfrm>
            <a:off x="9067800" y="4591050"/>
            <a:ext cx="4419600" cy="704850"/>
          </a:xfrm>
          <a:prstGeom prst="roundRect">
            <a:avLst>
              <a:gd name="adj" fmla="val 16216"/>
            </a:avLst>
          </a:prstGeom>
          <a:solidFill>
            <a:srgbClr val="F9F9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"/>
          <p:cNvSpPr txBox="1"/>
          <p:nvPr/>
        </p:nvSpPr>
        <p:spPr>
          <a:xfrm>
            <a:off x="9220200" y="4743450"/>
            <a:ext cx="144186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0A0A0A"/>
                </a:solidFill>
                <a:latin typeface="Inter"/>
                <a:ea typeface="Inter"/>
                <a:cs typeface="Inter"/>
              </a:rPr>
              <a:t>任务 #3: 推导体验方案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9220200" y="4991100"/>
            <a:ext cx="10433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C5C5C"/>
                </a:solidFill>
                <a:latin typeface="Inter"/>
                <a:ea typeface="Inter"/>
                <a:cs typeface="Inter"/>
              </a:rPr>
              <a:t>负责人: DeepSeek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9182100" y="5562600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0A0A0A"/>
                </a:solidFill>
                <a:latin typeface="Inter"/>
                <a:ea typeface="Inter"/>
                <a:cs typeface="Inter"/>
              </a:rPr>
              <a:t>编码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9182100" y="5772150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A58C23"/>
                </a:solidFill>
                <a:latin typeface="Inter"/>
                <a:ea typeface="Inter"/>
                <a:cs typeface="Inter"/>
              </a:rPr>
              <a:t>进行中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10515600" y="5448300"/>
            <a:ext cx="163563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350">
                <a:solidFill>
                  <a:srgbClr val="B2B2B2"/>
                </a:solidFill>
                <a:latin typeface="Sarasa Gothic SC"/>
                <a:ea typeface="Sarasa Gothic SC"/>
                <a:cs typeface="Sarasa Gothic SC"/>
              </a:rPr>
              <a:t>→</a:t>
            </a:r>
          </a:p>
        </p:txBody>
      </p:sp>
      <p:sp>
        <p:nvSpPr>
          <p:cNvPr id="57" name="Rectangle"/>
          <p:cNvSpPr/>
          <p:nvPr/>
        </p:nvSpPr>
        <p:spPr>
          <a:xfrm>
            <a:off x="10763250" y="5448300"/>
            <a:ext cx="1371600" cy="581025"/>
          </a:xfrm>
          <a:prstGeom prst="roundRect">
            <a:avLst>
              <a:gd name="adj" fmla="val 16393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10877550" y="5562600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878787"/>
                </a:solidFill>
                <a:latin typeface="Inter"/>
                <a:ea typeface="Inter"/>
                <a:cs typeface="Inter"/>
              </a:rPr>
              <a:t>审查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10877550" y="5772150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B2B2B2"/>
                </a:solidFill>
                <a:latin typeface="Inter"/>
                <a:ea typeface="Inter"/>
                <a:cs typeface="Inter"/>
              </a:rPr>
              <a:t>等待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12211050" y="5448300"/>
            <a:ext cx="163563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350">
                <a:solidFill>
                  <a:srgbClr val="B2B2B2"/>
                </a:solidFill>
                <a:latin typeface="Sarasa Gothic SC"/>
                <a:ea typeface="Sarasa Gothic SC"/>
                <a:cs typeface="Sarasa Gothic SC"/>
              </a:rPr>
              <a:t>→</a:t>
            </a:r>
          </a:p>
        </p:txBody>
      </p:sp>
      <p:sp>
        <p:nvSpPr>
          <p:cNvPr id="61" name="Rectangle"/>
          <p:cNvSpPr/>
          <p:nvPr/>
        </p:nvSpPr>
        <p:spPr>
          <a:xfrm>
            <a:off x="12458700" y="5448300"/>
            <a:ext cx="1371600" cy="581025"/>
          </a:xfrm>
          <a:prstGeom prst="roundRect">
            <a:avLst>
              <a:gd name="adj" fmla="val 16393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"/>
          <p:cNvSpPr txBox="1"/>
          <p:nvPr/>
        </p:nvSpPr>
        <p:spPr>
          <a:xfrm>
            <a:off x="12573000" y="5562600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878787"/>
                </a:solidFill>
                <a:latin typeface="Inter"/>
                <a:ea typeface="Inter"/>
                <a:cs typeface="Inter"/>
              </a:rPr>
              <a:t>验收</a:t>
            </a:r>
          </a:p>
        </p:txBody>
      </p:sp>
      <p:sp>
        <p:nvSpPr>
          <p:cNvPr id="63" name="TextBox"/>
          <p:cNvSpPr txBox="1"/>
          <p:nvPr/>
        </p:nvSpPr>
        <p:spPr>
          <a:xfrm>
            <a:off x="12573000" y="5772150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B2B2B2"/>
                </a:solidFill>
                <a:latin typeface="Inter"/>
                <a:ea typeface="Inter"/>
                <a:cs typeface="Inter"/>
              </a:rPr>
              <a:t>等待</a:t>
            </a:r>
          </a:p>
        </p:txBody>
      </p:sp>
      <p:sp>
        <p:nvSpPr>
          <p:cNvPr id="64" name="Rectangle"/>
          <p:cNvSpPr/>
          <p:nvPr/>
        </p:nvSpPr>
        <p:spPr>
          <a:xfrm>
            <a:off x="8843963" y="4005263"/>
            <a:ext cx="4867275" cy="4333875"/>
          </a:xfrm>
          <a:prstGeom prst="roundRect">
            <a:avLst>
              <a:gd name="adj" fmla="val 3406"/>
            </a:avLst>
          </a:prstGeom>
          <a:noFill/>
          <a:ln w="9525">
            <a:solidFill>
              <a:srgbClr val="E0E0E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